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3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E5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503152" y="347472"/>
            <a:ext cx="100584" cy="100584"/>
          </a:xfrm>
          <a:prstGeom prst="ellipse">
            <a:avLst/>
          </a:prstGeom>
          <a:solidFill>
            <a:srgbClr val="E5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503152" y="758952"/>
            <a:ext cx="100584" cy="100584"/>
          </a:xfrm>
          <a:prstGeom prst="ellipse">
            <a:avLst/>
          </a:prstGeom>
          <a:solidFill>
            <a:srgbClr val="E5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503152" y="1170432"/>
            <a:ext cx="100584" cy="100584"/>
          </a:xfrm>
          <a:prstGeom prst="ellipse">
            <a:avLst/>
          </a:prstGeom>
          <a:solidFill>
            <a:srgbClr val="E5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03152" y="1581912"/>
            <a:ext cx="100584" cy="100584"/>
          </a:xfrm>
          <a:prstGeom prst="ellipse">
            <a:avLst/>
          </a:prstGeom>
          <a:solidFill>
            <a:srgbClr val="E5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503152" y="1993392"/>
            <a:ext cx="100584" cy="100584"/>
          </a:xfrm>
          <a:prstGeom prst="ellipse">
            <a:avLst/>
          </a:prstGeom>
          <a:solidFill>
            <a:srgbClr val="E5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03152" y="2404872"/>
            <a:ext cx="100584" cy="100584"/>
          </a:xfrm>
          <a:prstGeom prst="ellipse">
            <a:avLst/>
          </a:prstGeom>
          <a:solidFill>
            <a:srgbClr val="E5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96012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7271D"/>
                </a:solidFill>
                <a:latin typeface="Aptos"/>
              </a:defRPr>
            </a:pPr>
            <a:r>
              <a:t>MOVIE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572768"/>
            <a:ext cx="79552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7271D"/>
                </a:solidFill>
                <a:latin typeface="Aptos"/>
              </a:defRPr>
            </a:pPr>
            <a:r>
              <a:t>RECOMMENDATION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185416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BE5623"/>
                </a:solidFill>
                <a:latin typeface="Aptos"/>
              </a:defRPr>
            </a:pPr>
            <a:r>
              <a:t>SYSTEM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3063240"/>
            <a:ext cx="7040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775D48"/>
                </a:solidFill>
                <a:latin typeface="Aptos"/>
              </a:defRPr>
            </a:pPr>
            <a:r>
              <a:t>A content-based recommender with personalized ranking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9536" y="3767328"/>
            <a:ext cx="1691640" cy="365760"/>
          </a:xfrm>
          <a:prstGeom prst="roundRect">
            <a:avLst/>
          </a:prstGeom>
          <a:solidFill>
            <a:srgbClr val="BE5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CINE-MEN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429768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7271D"/>
                </a:solidFill>
                <a:latin typeface="Aptos"/>
              </a:defRPr>
            </a:pPr>
            <a:r>
              <a:t>Team Project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" y="4645152"/>
            <a:ext cx="6858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75D48"/>
                </a:solidFill>
                <a:latin typeface="Aptos"/>
              </a:defRPr>
            </a:pPr>
            <a:r>
              <a:t>My Role  •  Recommendation  •  Backend  •  Integration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32520" y="1508760"/>
            <a:ext cx="1965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>
                <a:solidFill>
                  <a:srgbClr val="BE5623"/>
                </a:solidFill>
                <a:latin typeface="Aptos"/>
              </a:defRPr>
            </a:pPr>
            <a:r>
              <a:t>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47395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775D48"/>
                </a:solidFill>
                <a:latin typeface="Aptos"/>
              </a:defRPr>
            </a:pPr>
            <a:r>
              <a:t>Cine-Men  •  Movie Recommendation System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73952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775D48"/>
                </a:solidFill>
                <a:latin typeface="Aptos"/>
              </a:defRPr>
            </a:pPr>
            <a:r>
              <a:t>1/12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18520" y="6419088"/>
            <a:ext cx="502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5C4E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3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E5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503152" y="347472"/>
            <a:ext cx="100584" cy="100584"/>
          </a:xfrm>
          <a:prstGeom prst="ellipse">
            <a:avLst/>
          </a:prstGeom>
          <a:solidFill>
            <a:srgbClr val="E5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503152" y="758952"/>
            <a:ext cx="100584" cy="100584"/>
          </a:xfrm>
          <a:prstGeom prst="ellipse">
            <a:avLst/>
          </a:prstGeom>
          <a:solidFill>
            <a:srgbClr val="E5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503152" y="1170432"/>
            <a:ext cx="100584" cy="100584"/>
          </a:xfrm>
          <a:prstGeom prst="ellipse">
            <a:avLst/>
          </a:prstGeom>
          <a:solidFill>
            <a:srgbClr val="E5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03152" y="1581912"/>
            <a:ext cx="100584" cy="100584"/>
          </a:xfrm>
          <a:prstGeom prst="ellipse">
            <a:avLst/>
          </a:prstGeom>
          <a:solidFill>
            <a:srgbClr val="E5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503152" y="1993392"/>
            <a:ext cx="100584" cy="100584"/>
          </a:xfrm>
          <a:prstGeom prst="ellipse">
            <a:avLst/>
          </a:prstGeom>
          <a:solidFill>
            <a:srgbClr val="E5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03152" y="2404872"/>
            <a:ext cx="100584" cy="100584"/>
          </a:xfrm>
          <a:prstGeom prst="ellipse">
            <a:avLst/>
          </a:prstGeom>
          <a:solidFill>
            <a:srgbClr val="E5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34747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E5623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292608"/>
            <a:ext cx="8961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7271D"/>
                </a:solidFill>
                <a:latin typeface="Aptos"/>
              </a:defRPr>
            </a:pPr>
            <a:r>
              <a:t>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832104"/>
            <a:ext cx="9784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775D48"/>
                </a:solidFill>
                <a:latin typeface="Aptos"/>
              </a:defRPr>
            </a:pPr>
            <a:r>
              <a:t>What does the app solve?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97280" y="1170432"/>
            <a:ext cx="914400" cy="32004"/>
          </a:xfrm>
          <a:prstGeom prst="rect">
            <a:avLst/>
          </a:prstGeom>
          <a:solidFill>
            <a:srgbClr val="BE5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85800" y="1508760"/>
            <a:ext cx="6949440" cy="4251960"/>
          </a:xfrm>
          <a:prstGeom prst="roundRect">
            <a:avLst/>
          </a:prstGeom>
          <a:solidFill>
            <a:srgbClr val="FFFBF5"/>
          </a:solidFill>
          <a:ln>
            <a:solidFill>
              <a:srgbClr val="E5D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1673351"/>
            <a:ext cx="6537959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550">
                <a:solidFill>
                  <a:srgbClr val="37271D"/>
                </a:solidFill>
                <a:latin typeface="Aptos"/>
              </a:defRPr>
            </a:pPr>
            <a:r>
              <a:t>•  Too many movies make it difficult to decide what to watch.</a:t>
            </a:r>
          </a:p>
          <a:p>
            <a:pPr>
              <a:spcAft>
                <a:spcPts val="1100"/>
              </a:spcAft>
              <a:defRPr sz="1550">
                <a:solidFill>
                  <a:srgbClr val="37271D"/>
                </a:solidFill>
                <a:latin typeface="Aptos"/>
              </a:defRPr>
            </a:pPr>
            <a:r>
              <a:t>•  Users may want movies similar to a movie they already like.</a:t>
            </a:r>
          </a:p>
          <a:p>
            <a:pPr>
              <a:spcAft>
                <a:spcPts val="1100"/>
              </a:spcAft>
              <a:defRPr sz="1550">
                <a:solidFill>
                  <a:srgbClr val="37271D"/>
                </a:solidFill>
                <a:latin typeface="Aptos"/>
              </a:defRPr>
            </a:pPr>
            <a:r>
              <a:t>•  Returning users should get recommendations based on their own activity.</a:t>
            </a:r>
          </a:p>
          <a:p>
            <a:pPr>
              <a:spcAft>
                <a:spcPts val="1100"/>
              </a:spcAft>
              <a:defRPr sz="1550">
                <a:solidFill>
                  <a:srgbClr val="37271D"/>
                </a:solidFill>
                <a:latin typeface="Aptos"/>
              </a:defRPr>
            </a:pPr>
            <a:r>
              <a:t>•  The system reduces search effort by showing a focused top 5.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1572768"/>
            <a:ext cx="2651760" cy="365760"/>
          </a:xfrm>
          <a:prstGeom prst="roundRect">
            <a:avLst/>
          </a:prstGeom>
          <a:solidFill>
            <a:srgbClr val="BE5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1000"/>
              <a:t>THE PROBLEM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21040" y="2240280"/>
            <a:ext cx="2651760" cy="749808"/>
          </a:xfrm>
          <a:prstGeom prst="roundRect">
            <a:avLst/>
          </a:prstGeom>
          <a:solidFill>
            <a:srgbClr val="FFFBF5"/>
          </a:solidFill>
          <a:ln>
            <a:solidFill>
              <a:srgbClr val="E5D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58200" y="2404872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7271D"/>
                </a:solidFill>
                <a:latin typeface="Aptos"/>
              </a:defRPr>
            </a:pPr>
            <a:r>
              <a:t>TOO MANY</a:t>
            </a:r>
            <a:br/>
            <a:r>
              <a:t>MOVIES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21040" y="3310128"/>
            <a:ext cx="2651760" cy="749808"/>
          </a:xfrm>
          <a:prstGeom prst="roundRect">
            <a:avLst/>
          </a:prstGeom>
          <a:solidFill>
            <a:srgbClr val="FFFBF5"/>
          </a:solidFill>
          <a:ln>
            <a:solidFill>
              <a:srgbClr val="E5D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58200" y="3474720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7271D"/>
                </a:solidFill>
                <a:latin typeface="Aptos"/>
              </a:defRPr>
            </a:pPr>
            <a:r>
              <a:t>NEED</a:t>
            </a:r>
            <a:br/>
            <a:r>
              <a:t>RELEVANCE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21040" y="4379976"/>
            <a:ext cx="2651760" cy="749808"/>
          </a:xfrm>
          <a:prstGeom prst="roundRect">
            <a:avLst/>
          </a:prstGeom>
          <a:solidFill>
            <a:srgbClr val="FFFBF5"/>
          </a:solidFill>
          <a:ln>
            <a:solidFill>
              <a:srgbClr val="E5D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58200" y="4544568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7271D"/>
                </a:solidFill>
                <a:latin typeface="Aptos"/>
              </a:defRPr>
            </a:pPr>
            <a:r>
              <a:t>GET TOP 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47395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775D48"/>
                </a:solidFill>
                <a:latin typeface="Aptos"/>
              </a:defRPr>
            </a:pPr>
            <a:r>
              <a:t>Cine-Men  •  Movie Recommendation System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73952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775D48"/>
                </a:solidFill>
                <a:latin typeface="Aptos"/>
              </a:defRPr>
            </a:pPr>
            <a:r>
              <a:t>2/12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3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E5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E5623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292608"/>
            <a:ext cx="8961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7271D"/>
                </a:solidFill>
                <a:latin typeface="Aptos"/>
              </a:defRPr>
            </a:pPr>
            <a:r>
              <a:t>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832104"/>
            <a:ext cx="9784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775D48"/>
                </a:solidFill>
                <a:latin typeface="Aptos"/>
              </a:defRPr>
            </a:pPr>
            <a:r>
              <a:t>One sentence + actual app screenshot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1170432"/>
            <a:ext cx="914400" cy="32004"/>
          </a:xfrm>
          <a:prstGeom prst="rect">
            <a:avLst/>
          </a:prstGeom>
          <a:solidFill>
            <a:srgbClr val="BE5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887" y="1307592"/>
            <a:ext cx="10789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7271D"/>
                </a:solidFill>
                <a:latin typeface="Aptos"/>
              </a:defRPr>
            </a:pPr>
            <a:r>
              <a:rPr sz="1500"/>
              <a:t>A content-based movie recommender that uses TF-IDF and cosine similarity, then personalizes the ranking using the selected movie, watch history and favourites.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47395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775D48"/>
                </a:solidFill>
                <a:latin typeface="Aptos"/>
              </a:defRPr>
            </a:pPr>
            <a:r>
              <a:t>Cine-Men  •  Movie Recommendation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73952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775D48"/>
                </a:solidFill>
                <a:latin typeface="Aptos"/>
              </a:defRPr>
            </a:pPr>
            <a:r>
              <a:t>3/12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75177" y="2029967"/>
            <a:ext cx="6441339" cy="3904488"/>
          </a:xfrm>
          <a:prstGeom prst="roundRect">
            <a:avLst/>
          </a:prstGeom>
          <a:solidFill>
            <a:srgbClr val="FFFBF5"/>
          </a:solidFill>
          <a:ln w="13970">
            <a:solidFill>
              <a:srgbClr val="BE5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0041" y="2084831"/>
            <a:ext cx="6331611" cy="37947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3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E5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503152" y="347472"/>
            <a:ext cx="100584" cy="100584"/>
          </a:xfrm>
          <a:prstGeom prst="ellipse">
            <a:avLst/>
          </a:prstGeom>
          <a:solidFill>
            <a:srgbClr val="E5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503152" y="758952"/>
            <a:ext cx="100584" cy="100584"/>
          </a:xfrm>
          <a:prstGeom prst="ellipse">
            <a:avLst/>
          </a:prstGeom>
          <a:solidFill>
            <a:srgbClr val="E5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503152" y="1170432"/>
            <a:ext cx="100584" cy="100584"/>
          </a:xfrm>
          <a:prstGeom prst="ellipse">
            <a:avLst/>
          </a:prstGeom>
          <a:solidFill>
            <a:srgbClr val="E5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03152" y="1581912"/>
            <a:ext cx="100584" cy="100584"/>
          </a:xfrm>
          <a:prstGeom prst="ellipse">
            <a:avLst/>
          </a:prstGeom>
          <a:solidFill>
            <a:srgbClr val="E5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503152" y="1993392"/>
            <a:ext cx="100584" cy="100584"/>
          </a:xfrm>
          <a:prstGeom prst="ellipse">
            <a:avLst/>
          </a:prstGeom>
          <a:solidFill>
            <a:srgbClr val="E5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03152" y="2404872"/>
            <a:ext cx="100584" cy="100584"/>
          </a:xfrm>
          <a:prstGeom prst="ellipse">
            <a:avLst/>
          </a:prstGeom>
          <a:solidFill>
            <a:srgbClr val="E5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34747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E5623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292608"/>
            <a:ext cx="8961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7271D"/>
                </a:solidFill>
                <a:latin typeface="Aptos"/>
              </a:defRPr>
            </a:pPr>
            <a:r>
              <a:t>Tech Stack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832104"/>
            <a:ext cx="9784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775D48"/>
                </a:solidFill>
                <a:latin typeface="Aptos"/>
              </a:defRPr>
            </a:pPr>
            <a:r>
              <a:t>Tools used in the project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97280" y="1170432"/>
            <a:ext cx="914400" cy="32004"/>
          </a:xfrm>
          <a:prstGeom prst="rect">
            <a:avLst/>
          </a:prstGeom>
          <a:solidFill>
            <a:srgbClr val="BE5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85800" y="1481328"/>
            <a:ext cx="2487168" cy="1444752"/>
          </a:xfrm>
          <a:prstGeom prst="roundRect">
            <a:avLst/>
          </a:prstGeom>
          <a:solidFill>
            <a:srgbClr val="FFFBF5"/>
          </a:solidFill>
          <a:ln>
            <a:solidFill>
              <a:srgbClr val="E5D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1728216"/>
            <a:ext cx="21214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BE5623"/>
                </a:solidFill>
                <a:latin typeface="Aptos"/>
              </a:defRPr>
            </a:pPr>
            <a:r>
              <a:t>Python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2194560"/>
            <a:ext cx="21214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775D48"/>
                </a:solidFill>
                <a:latin typeface="Aptos"/>
              </a:defRPr>
            </a:pPr>
            <a:r>
              <a:t>Core programming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02152" y="1481328"/>
            <a:ext cx="2487168" cy="1444752"/>
          </a:xfrm>
          <a:prstGeom prst="roundRect">
            <a:avLst/>
          </a:prstGeom>
          <a:solidFill>
            <a:srgbClr val="FFFBF5"/>
          </a:solidFill>
          <a:ln>
            <a:solidFill>
              <a:srgbClr val="E5D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85032" y="1728216"/>
            <a:ext cx="21214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BE5623"/>
                </a:solidFill>
                <a:latin typeface="Aptos"/>
              </a:defRPr>
            </a:pPr>
            <a:r>
              <a:t>Pandas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85032" y="2194560"/>
            <a:ext cx="21214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775D48"/>
                </a:solidFill>
                <a:latin typeface="Aptos"/>
              </a:defRPr>
            </a:pPr>
            <a:r>
              <a:t>Movie data handling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18504" y="1481328"/>
            <a:ext cx="2487168" cy="1444752"/>
          </a:xfrm>
          <a:prstGeom prst="roundRect">
            <a:avLst/>
          </a:prstGeom>
          <a:solidFill>
            <a:srgbClr val="FFFBF5"/>
          </a:solidFill>
          <a:ln>
            <a:solidFill>
              <a:srgbClr val="E5D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01384" y="1728216"/>
            <a:ext cx="21214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BE5623"/>
                </a:solidFill>
                <a:latin typeface="Aptos"/>
              </a:defRPr>
            </a:pPr>
            <a:r>
              <a:t>Scikit-learn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01384" y="2194560"/>
            <a:ext cx="21214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775D48"/>
                </a:solidFill>
                <a:latin typeface="Aptos"/>
              </a:defRPr>
            </a:pPr>
            <a:r>
              <a:t>TF-IDF + similarity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34856" y="1481328"/>
            <a:ext cx="2487168" cy="1444752"/>
          </a:xfrm>
          <a:prstGeom prst="roundRect">
            <a:avLst/>
          </a:prstGeom>
          <a:solidFill>
            <a:srgbClr val="FFFBF5"/>
          </a:solidFill>
          <a:ln>
            <a:solidFill>
              <a:srgbClr val="E5D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17736" y="1728216"/>
            <a:ext cx="21214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BE5623"/>
                </a:solidFill>
                <a:latin typeface="Aptos"/>
              </a:defRPr>
            </a:pPr>
            <a:r>
              <a:t>Streamlit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17736" y="2194560"/>
            <a:ext cx="21214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775D48"/>
                </a:solidFill>
                <a:latin typeface="Aptos"/>
              </a:defRPr>
            </a:pPr>
            <a:r>
              <a:t>Web application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3419856"/>
            <a:ext cx="2487168" cy="1444752"/>
          </a:xfrm>
          <a:prstGeom prst="roundRect">
            <a:avLst/>
          </a:prstGeom>
          <a:solidFill>
            <a:srgbClr val="FFFBF5"/>
          </a:solidFill>
          <a:ln>
            <a:solidFill>
              <a:srgbClr val="E5D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3666744"/>
            <a:ext cx="21214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BE5623"/>
                </a:solidFill>
                <a:latin typeface="Aptos"/>
              </a:defRPr>
            </a:pPr>
            <a:r>
              <a:t>SQLite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4133088"/>
            <a:ext cx="21214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775D48"/>
                </a:solidFill>
                <a:latin typeface="Aptos"/>
              </a:defRPr>
            </a:pPr>
            <a:r>
              <a:t>Users + activity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502152" y="3419856"/>
            <a:ext cx="2487168" cy="1444752"/>
          </a:xfrm>
          <a:prstGeom prst="roundRect">
            <a:avLst/>
          </a:prstGeom>
          <a:solidFill>
            <a:srgbClr val="FFFBF5"/>
          </a:solidFill>
          <a:ln>
            <a:solidFill>
              <a:srgbClr val="E5D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85032" y="3666744"/>
            <a:ext cx="21214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BE5623"/>
                </a:solidFill>
                <a:latin typeface="Aptos"/>
              </a:defRPr>
            </a:pPr>
            <a:r>
              <a:t>OMDb API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85032" y="4133088"/>
            <a:ext cx="21214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775D48"/>
                </a:solidFill>
                <a:latin typeface="Aptos"/>
              </a:defRPr>
            </a:pPr>
            <a:r>
              <a:t>Movie details + posters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18504" y="3419856"/>
            <a:ext cx="2487168" cy="1444752"/>
          </a:xfrm>
          <a:prstGeom prst="roundRect">
            <a:avLst/>
          </a:prstGeom>
          <a:solidFill>
            <a:srgbClr val="FFFBF5"/>
          </a:solidFill>
          <a:ln>
            <a:solidFill>
              <a:srgbClr val="E5D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01384" y="3666744"/>
            <a:ext cx="21214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BE5623"/>
                </a:solidFill>
                <a:latin typeface="Aptos"/>
              </a:defRPr>
            </a:pPr>
            <a:r>
              <a:t>CSS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01384" y="4133088"/>
            <a:ext cx="21214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775D48"/>
                </a:solidFill>
                <a:latin typeface="Aptos"/>
              </a:defRPr>
            </a:pPr>
            <a:r>
              <a:t>Application styling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34856" y="3419856"/>
            <a:ext cx="2487168" cy="1444752"/>
          </a:xfrm>
          <a:prstGeom prst="roundRect">
            <a:avLst/>
          </a:prstGeom>
          <a:solidFill>
            <a:srgbClr val="FFFBF5"/>
          </a:solidFill>
          <a:ln>
            <a:solidFill>
              <a:srgbClr val="E5D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17736" y="3666744"/>
            <a:ext cx="21214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BE5623"/>
                </a:solidFill>
                <a:latin typeface="Aptos"/>
              </a:defRPr>
            </a:pPr>
            <a:r>
              <a:t>Git &amp; GitHub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17736" y="4133088"/>
            <a:ext cx="21214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775D48"/>
                </a:solidFill>
                <a:latin typeface="Aptos"/>
              </a:defRPr>
            </a:pPr>
            <a:r>
              <a:t>Version control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647395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775D48"/>
                </a:solidFill>
                <a:latin typeface="Aptos"/>
              </a:defRPr>
            </a:pPr>
            <a:r>
              <a:t>Cine-Men  •  Movie Recommendation System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6473952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775D48"/>
                </a:solidFill>
                <a:latin typeface="Aptos"/>
              </a:defRPr>
            </a:pPr>
            <a:r>
              <a:t>4/12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BE5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502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BE5623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292608"/>
            <a:ext cx="8961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7271D"/>
                </a:solidFill>
                <a:latin typeface="Aptos"/>
              </a:defRPr>
            </a:pPr>
            <a: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832104"/>
            <a:ext cx="9784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775D48"/>
                </a:solidFill>
                <a:latin typeface="Aptos"/>
              </a:defRPr>
            </a:pPr>
            <a:r>
              <a:t>How the components work together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1170432"/>
            <a:ext cx="914400" cy="36576"/>
          </a:xfrm>
          <a:prstGeom prst="rect">
            <a:avLst/>
          </a:prstGeom>
          <a:solidFill>
            <a:srgbClr val="BE5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503152" y="347472"/>
            <a:ext cx="100584" cy="100584"/>
          </a:xfrm>
          <a:prstGeom prst="ellipse">
            <a:avLst/>
          </a:prstGeom>
          <a:solidFill>
            <a:srgbClr val="DDC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03152" y="758952"/>
            <a:ext cx="100584" cy="100584"/>
          </a:xfrm>
          <a:prstGeom prst="ellipse">
            <a:avLst/>
          </a:prstGeom>
          <a:solidFill>
            <a:srgbClr val="DDC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503152" y="1170432"/>
            <a:ext cx="100584" cy="100584"/>
          </a:xfrm>
          <a:prstGeom prst="ellipse">
            <a:avLst/>
          </a:prstGeom>
          <a:solidFill>
            <a:srgbClr val="DDC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03152" y="1581912"/>
            <a:ext cx="100584" cy="100584"/>
          </a:xfrm>
          <a:prstGeom prst="ellipse">
            <a:avLst/>
          </a:prstGeom>
          <a:solidFill>
            <a:srgbClr val="DDC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503152" y="1993392"/>
            <a:ext cx="100584" cy="100584"/>
          </a:xfrm>
          <a:prstGeom prst="ellipse">
            <a:avLst/>
          </a:prstGeom>
          <a:solidFill>
            <a:srgbClr val="DDC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03152" y="2404872"/>
            <a:ext cx="100584" cy="100584"/>
          </a:xfrm>
          <a:prstGeom prst="ellipse">
            <a:avLst/>
          </a:prstGeom>
          <a:solidFill>
            <a:srgbClr val="DDC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85800" y="2423160"/>
            <a:ext cx="1417320" cy="1051560"/>
          </a:xfrm>
          <a:prstGeom prst="roundRect">
            <a:avLst/>
          </a:prstGeom>
          <a:solidFill>
            <a:srgbClr val="FFFBF5"/>
          </a:solidFill>
          <a:ln w="12700">
            <a:solidFill>
              <a:srgbClr val="E5D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73152" bIns="73152"/>
          <a:lstStyle/>
          <a:p>
            <a:pPr algn="ctr">
              <a:defRPr sz="1450" b="1">
                <a:solidFill>
                  <a:srgbClr val="BE5623"/>
                </a:solidFill>
                <a:latin typeface="Aptos"/>
              </a:defRPr>
            </a:pPr>
            <a:r>
              <a:t>USER</a:t>
            </a:r>
          </a:p>
          <a:p>
            <a:pPr algn="ctr">
              <a:defRPr sz="950">
                <a:solidFill>
                  <a:srgbClr val="775D48"/>
                </a:solidFill>
                <a:latin typeface="Aptos"/>
              </a:defRPr>
            </a:pPr>
            <a:r>
              <a:t>Selects movie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68880" y="2148840"/>
            <a:ext cx="2148840" cy="1600200"/>
          </a:xfrm>
          <a:prstGeom prst="roundRect">
            <a:avLst/>
          </a:prstGeom>
          <a:solidFill>
            <a:srgbClr val="FFFBF5"/>
          </a:solidFill>
          <a:ln w="12700">
            <a:solidFill>
              <a:srgbClr val="E5D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73152" bIns="73152"/>
          <a:lstStyle/>
          <a:p>
            <a:pPr algn="ctr">
              <a:defRPr sz="1450" b="1">
                <a:solidFill>
                  <a:srgbClr val="BE5623"/>
                </a:solidFill>
                <a:latin typeface="Aptos"/>
              </a:defRPr>
            </a:pPr>
            <a:r>
              <a:t>app.py</a:t>
            </a:r>
          </a:p>
          <a:p>
            <a:pPr algn="ctr">
              <a:defRPr sz="950">
                <a:solidFill>
                  <a:srgbClr val="775D48"/>
                </a:solidFill>
                <a:latin typeface="Aptos"/>
              </a:defRPr>
            </a:pPr>
            <a:r>
              <a:t>Streamlit UI</a:t>
            </a:r>
            <a:br/>
            <a:r>
              <a:t>Application flow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74920" y="1554480"/>
            <a:ext cx="2103120" cy="1143000"/>
          </a:xfrm>
          <a:prstGeom prst="roundRect">
            <a:avLst/>
          </a:prstGeom>
          <a:solidFill>
            <a:srgbClr val="FFFBF5"/>
          </a:solidFill>
          <a:ln w="12700">
            <a:solidFill>
              <a:srgbClr val="E5D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73152" bIns="73152"/>
          <a:lstStyle/>
          <a:p>
            <a:pPr algn="ctr">
              <a:defRPr sz="1450" b="1">
                <a:solidFill>
                  <a:srgbClr val="BE5623"/>
                </a:solidFill>
                <a:latin typeface="Aptos"/>
              </a:defRPr>
            </a:pPr>
            <a:r>
              <a:t>database.py</a:t>
            </a:r>
          </a:p>
          <a:p>
            <a:pPr algn="ctr">
              <a:defRPr sz="950">
                <a:solidFill>
                  <a:srgbClr val="775D48"/>
                </a:solidFill>
                <a:latin typeface="Aptos"/>
              </a:defRPr>
            </a:pPr>
            <a:r>
              <a:t>Users + History</a:t>
            </a:r>
            <a:br/>
            <a:r>
              <a:t>Favourites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74920" y="3429000"/>
            <a:ext cx="2103120" cy="1234440"/>
          </a:xfrm>
          <a:prstGeom prst="roundRect">
            <a:avLst/>
          </a:prstGeom>
          <a:solidFill>
            <a:srgbClr val="FFFBF5"/>
          </a:solidFill>
          <a:ln w="12700">
            <a:solidFill>
              <a:srgbClr val="E5D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73152" bIns="73152"/>
          <a:lstStyle/>
          <a:p>
            <a:pPr algn="ctr">
              <a:defRPr sz="1450" b="1">
                <a:solidFill>
                  <a:srgbClr val="BE5623"/>
                </a:solidFill>
                <a:latin typeface="Aptos"/>
              </a:defRPr>
            </a:pPr>
            <a:r>
              <a:t>recommender.py</a:t>
            </a:r>
          </a:p>
          <a:p>
            <a:pPr algn="ctr">
              <a:defRPr sz="950">
                <a:solidFill>
                  <a:srgbClr val="775D48"/>
                </a:solidFill>
                <a:latin typeface="Aptos"/>
              </a:defRPr>
            </a:pPr>
            <a:r>
              <a:t>TF-IDF + Cosine</a:t>
            </a:r>
            <a:br/>
            <a:r>
              <a:t>Personalized scoring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26679" y="1554480"/>
            <a:ext cx="2103120" cy="1143000"/>
          </a:xfrm>
          <a:prstGeom prst="roundRect">
            <a:avLst/>
          </a:prstGeom>
          <a:solidFill>
            <a:srgbClr val="FFFBF5"/>
          </a:solidFill>
          <a:ln w="12700">
            <a:solidFill>
              <a:srgbClr val="E5D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73152" bIns="73152"/>
          <a:lstStyle/>
          <a:p>
            <a:pPr algn="ctr">
              <a:defRPr sz="1450" b="1">
                <a:solidFill>
                  <a:srgbClr val="BE5623"/>
                </a:solidFill>
                <a:latin typeface="Aptos"/>
              </a:defRPr>
            </a:pPr>
            <a:r>
              <a:t>omdb.py</a:t>
            </a:r>
          </a:p>
          <a:p>
            <a:pPr algn="ctr">
              <a:defRPr sz="950">
                <a:solidFill>
                  <a:srgbClr val="775D48"/>
                </a:solidFill>
                <a:latin typeface="Aptos"/>
              </a:defRPr>
            </a:pPr>
            <a:r>
              <a:t>Movie details</a:t>
            </a:r>
            <a:br/>
            <a:r>
              <a:t>Posters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26679" y="3429000"/>
            <a:ext cx="2103120" cy="1234440"/>
          </a:xfrm>
          <a:prstGeom prst="roundRect">
            <a:avLst/>
          </a:prstGeom>
          <a:solidFill>
            <a:srgbClr val="FFFBF5"/>
          </a:solidFill>
          <a:ln w="12700">
            <a:solidFill>
              <a:srgbClr val="E5D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73152" bIns="73152"/>
          <a:lstStyle/>
          <a:p>
            <a:pPr algn="ctr">
              <a:defRPr sz="1450" b="1">
                <a:solidFill>
                  <a:srgbClr val="BE5623"/>
                </a:solidFill>
                <a:latin typeface="Aptos"/>
              </a:defRPr>
            </a:pPr>
            <a:r>
              <a:t>TOP 5</a:t>
            </a:r>
          </a:p>
          <a:p>
            <a:pPr algn="ctr">
              <a:defRPr sz="950">
                <a:solidFill>
                  <a:srgbClr val="775D48"/>
                </a:solidFill>
                <a:latin typeface="Aptos"/>
              </a:defRPr>
            </a:pPr>
            <a:r>
              <a:t>Recommendations</a:t>
            </a:r>
            <a:br/>
            <a:r>
              <a:t>shown to user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103120" y="2944368"/>
            <a:ext cx="365760" cy="0"/>
          </a:xfrm>
          <a:prstGeom prst="line">
            <a:avLst/>
          </a:prstGeom>
          <a:ln w="21590">
            <a:solidFill>
              <a:srgbClr val="BE56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4617720" y="2057400"/>
            <a:ext cx="457200" cy="484632"/>
          </a:xfrm>
          <a:prstGeom prst="line">
            <a:avLst/>
          </a:prstGeom>
          <a:ln w="21590">
            <a:solidFill>
              <a:srgbClr val="BE56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617720" y="3337560"/>
            <a:ext cx="457200" cy="502920"/>
          </a:xfrm>
          <a:prstGeom prst="line">
            <a:avLst/>
          </a:prstGeom>
          <a:ln w="21590">
            <a:solidFill>
              <a:srgbClr val="BE56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126480" y="2697480"/>
            <a:ext cx="0" cy="731520"/>
          </a:xfrm>
          <a:prstGeom prst="line">
            <a:avLst/>
          </a:prstGeom>
          <a:ln w="21590">
            <a:solidFill>
              <a:srgbClr val="BE56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7178040" y="2121408"/>
            <a:ext cx="548639" cy="1581912"/>
          </a:xfrm>
          <a:prstGeom prst="line">
            <a:avLst/>
          </a:prstGeom>
          <a:ln w="21590">
            <a:solidFill>
              <a:srgbClr val="BE56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178040" y="4050791"/>
            <a:ext cx="548639" cy="0"/>
          </a:xfrm>
          <a:prstGeom prst="line">
            <a:avLst/>
          </a:prstGeom>
          <a:ln w="21590">
            <a:solidFill>
              <a:srgbClr val="BE56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572000" y="1874519"/>
            <a:ext cx="594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775D48"/>
                </a:solidFill>
                <a:latin typeface="Aptos"/>
              </a:defRPr>
            </a:pPr>
            <a:r>
              <a:t>user data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3547872"/>
            <a:ext cx="594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775D48"/>
                </a:solidFill>
                <a:latin typeface="Aptos"/>
              </a:defRPr>
            </a:pPr>
            <a:r>
              <a:t>recommend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2907792"/>
            <a:ext cx="685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775D48"/>
                </a:solidFill>
                <a:latin typeface="Aptos"/>
              </a:defRPr>
            </a:pPr>
            <a:r>
              <a:t>history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69480" y="2697480"/>
            <a:ext cx="594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775D48"/>
                </a:solidFill>
                <a:latin typeface="Aptos"/>
              </a:defRPr>
            </a:pPr>
            <a:r>
              <a:t>details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96912" y="37673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775D48"/>
                </a:solidFill>
                <a:latin typeface="Aptos"/>
              </a:defRPr>
            </a:pPr>
            <a:r>
              <a:t>score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473952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75D48"/>
                </a:solidFill>
                <a:latin typeface="Aptos"/>
              </a:defRPr>
            </a:pPr>
            <a:r>
              <a:t>Cine-Men  •  Movie Recommendation System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6473952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775D48"/>
                </a:solidFill>
                <a:latin typeface="Aptos"/>
              </a:defRPr>
            </a:pPr>
            <a:r>
              <a:t>5/12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3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E5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503152" y="347472"/>
            <a:ext cx="100584" cy="100584"/>
          </a:xfrm>
          <a:prstGeom prst="ellipse">
            <a:avLst/>
          </a:prstGeom>
          <a:solidFill>
            <a:srgbClr val="E5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503152" y="758952"/>
            <a:ext cx="100584" cy="100584"/>
          </a:xfrm>
          <a:prstGeom prst="ellipse">
            <a:avLst/>
          </a:prstGeom>
          <a:solidFill>
            <a:srgbClr val="E5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503152" y="1170432"/>
            <a:ext cx="100584" cy="100584"/>
          </a:xfrm>
          <a:prstGeom prst="ellipse">
            <a:avLst/>
          </a:prstGeom>
          <a:solidFill>
            <a:srgbClr val="E5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03152" y="1581912"/>
            <a:ext cx="100584" cy="100584"/>
          </a:xfrm>
          <a:prstGeom prst="ellipse">
            <a:avLst/>
          </a:prstGeom>
          <a:solidFill>
            <a:srgbClr val="E5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503152" y="1993392"/>
            <a:ext cx="100584" cy="100584"/>
          </a:xfrm>
          <a:prstGeom prst="ellipse">
            <a:avLst/>
          </a:prstGeom>
          <a:solidFill>
            <a:srgbClr val="E5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03152" y="2404872"/>
            <a:ext cx="100584" cy="100584"/>
          </a:xfrm>
          <a:prstGeom prst="ellipse">
            <a:avLst/>
          </a:prstGeom>
          <a:solidFill>
            <a:srgbClr val="E5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34747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E5623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292608"/>
            <a:ext cx="8961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7271D"/>
                </a:solidFill>
                <a:latin typeface="Aptos"/>
              </a:defRPr>
            </a:pPr>
            <a:r>
              <a:t>LIVE DEMO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832104"/>
            <a:ext cx="9784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775D48"/>
                </a:solidFill>
                <a:latin typeface="Aptos"/>
              </a:defRPr>
            </a:pPr>
            <a:r>
              <a:t>Run the application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97280" y="1170432"/>
            <a:ext cx="914400" cy="32004"/>
          </a:xfrm>
          <a:prstGeom prst="rect">
            <a:avLst/>
          </a:prstGeom>
          <a:solidFill>
            <a:srgbClr val="BE5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138928" y="1325880"/>
            <a:ext cx="1828800" cy="365760"/>
          </a:xfrm>
          <a:prstGeom prst="roundRect">
            <a:avLst/>
          </a:prstGeom>
          <a:solidFill>
            <a:srgbClr val="BE5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LIVE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1938528"/>
            <a:ext cx="3337560" cy="1353312"/>
          </a:xfrm>
          <a:prstGeom prst="roundRect">
            <a:avLst/>
          </a:prstGeom>
          <a:solidFill>
            <a:srgbClr val="FFFBF5"/>
          </a:solidFill>
          <a:ln>
            <a:solidFill>
              <a:srgbClr val="E5D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2959" y="2103120"/>
            <a:ext cx="502920" cy="365760"/>
          </a:xfrm>
          <a:prstGeom prst="roundRect">
            <a:avLst/>
          </a:prstGeom>
          <a:solidFill>
            <a:srgbClr val="BE5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81328" y="212140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7271D"/>
                </a:solidFill>
                <a:latin typeface="Aptos"/>
              </a:defRPr>
            </a:pPr>
            <a:r>
              <a:t>Sign 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81328" y="2551176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775D48"/>
                </a:solidFill>
                <a:latin typeface="Aptos"/>
              </a:defRPr>
            </a:pPr>
            <a:r>
              <a:t>Existing registered email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53128" y="1938528"/>
            <a:ext cx="3337560" cy="1353312"/>
          </a:xfrm>
          <a:prstGeom prst="roundRect">
            <a:avLst/>
          </a:prstGeom>
          <a:solidFill>
            <a:srgbClr val="FFFBF5"/>
          </a:solidFill>
          <a:ln>
            <a:solidFill>
              <a:srgbClr val="E5D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617720" y="2103120"/>
            <a:ext cx="502920" cy="365760"/>
          </a:xfrm>
          <a:prstGeom prst="roundRect">
            <a:avLst/>
          </a:prstGeom>
          <a:solidFill>
            <a:srgbClr val="BE5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76088" y="212140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7271D"/>
                </a:solidFill>
                <a:latin typeface="Aptos"/>
              </a:defRPr>
            </a:pPr>
            <a:r>
              <a:t>Select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76088" y="2551176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775D48"/>
                </a:solidFill>
                <a:latin typeface="Aptos"/>
              </a:defRPr>
            </a:pPr>
            <a:r>
              <a:t>Search / choose a movie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47888" y="1938528"/>
            <a:ext cx="3337560" cy="1353312"/>
          </a:xfrm>
          <a:prstGeom prst="roundRect">
            <a:avLst/>
          </a:prstGeom>
          <a:solidFill>
            <a:srgbClr val="FFFBF5"/>
          </a:solidFill>
          <a:ln>
            <a:solidFill>
              <a:srgbClr val="E5D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412480" y="2103120"/>
            <a:ext cx="502920" cy="365760"/>
          </a:xfrm>
          <a:prstGeom prst="roundRect">
            <a:avLst/>
          </a:prstGeom>
          <a:solidFill>
            <a:srgbClr val="BE5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70848" y="212140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7271D"/>
                </a:solidFill>
                <a:latin typeface="Aptos"/>
              </a:defRPr>
            </a:pPr>
            <a:r>
              <a:t>Recommend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70848" y="2551176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775D48"/>
                </a:solidFill>
                <a:latin typeface="Aptos"/>
              </a:defRPr>
            </a:pPr>
            <a:r>
              <a:t>Click Recommend Movies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3630168"/>
            <a:ext cx="3337560" cy="1353312"/>
          </a:xfrm>
          <a:prstGeom prst="roundRect">
            <a:avLst/>
          </a:prstGeom>
          <a:solidFill>
            <a:srgbClr val="FFFBF5"/>
          </a:solidFill>
          <a:ln>
            <a:solidFill>
              <a:srgbClr val="E5D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22959" y="3794760"/>
            <a:ext cx="502920" cy="365760"/>
          </a:xfrm>
          <a:prstGeom prst="roundRect">
            <a:avLst/>
          </a:prstGeom>
          <a:solidFill>
            <a:srgbClr val="BE5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81328" y="381304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7271D"/>
                </a:solidFill>
                <a:latin typeface="Aptos"/>
              </a:defRPr>
            </a:pPr>
            <a:r>
              <a:t>Show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81328" y="4242816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775D48"/>
                </a:solidFill>
                <a:latin typeface="Aptos"/>
              </a:defRPr>
            </a:pPr>
            <a:r>
              <a:t>Display top 5 results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453128" y="3630168"/>
            <a:ext cx="3337560" cy="1353312"/>
          </a:xfrm>
          <a:prstGeom prst="roundRect">
            <a:avLst/>
          </a:prstGeom>
          <a:solidFill>
            <a:srgbClr val="FFFBF5"/>
          </a:solidFill>
          <a:ln>
            <a:solidFill>
              <a:srgbClr val="E5D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617720" y="3794760"/>
            <a:ext cx="502920" cy="365760"/>
          </a:xfrm>
          <a:prstGeom prst="roundRect">
            <a:avLst/>
          </a:prstGeom>
          <a:solidFill>
            <a:srgbClr val="BE5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76088" y="381304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7271D"/>
                </a:solidFill>
                <a:latin typeface="Aptos"/>
              </a:defRPr>
            </a:pPr>
            <a:r>
              <a:t>Update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76088" y="4242816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775D48"/>
                </a:solidFill>
                <a:latin typeface="Aptos"/>
              </a:defRPr>
            </a:pPr>
            <a:r>
              <a:t>Favourite / mark watched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47888" y="3630168"/>
            <a:ext cx="3337560" cy="1353312"/>
          </a:xfrm>
          <a:prstGeom prst="roundRect">
            <a:avLst/>
          </a:prstGeom>
          <a:solidFill>
            <a:srgbClr val="FFFBF5"/>
          </a:solidFill>
          <a:ln>
            <a:solidFill>
              <a:srgbClr val="E5D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412480" y="3794760"/>
            <a:ext cx="502920" cy="365760"/>
          </a:xfrm>
          <a:prstGeom prst="roundRect">
            <a:avLst/>
          </a:prstGeom>
          <a:solidFill>
            <a:srgbClr val="BE5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70848" y="381304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7271D"/>
                </a:solidFill>
                <a:latin typeface="Aptos"/>
              </a:defRPr>
            </a:pPr>
            <a:r>
              <a:t>Verify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70848" y="4242816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775D48"/>
                </a:solidFill>
                <a:latin typeface="Aptos"/>
              </a:defRPr>
            </a:pPr>
            <a:r>
              <a:t>History / recommendations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647395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775D48"/>
                </a:solidFill>
                <a:latin typeface="Aptos"/>
              </a:defRPr>
            </a:pPr>
            <a:r>
              <a:t>Cine-Men  •  Movie Recommendation System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0" y="6473952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775D48"/>
                </a:solidFill>
                <a:latin typeface="Aptos"/>
              </a:defRPr>
            </a:pPr>
            <a:r>
              <a:t>6/12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3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E5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E5623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292608"/>
            <a:ext cx="8961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7271D"/>
                </a:solidFill>
                <a:latin typeface="Aptos"/>
              </a:defRPr>
            </a:pPr>
            <a:r>
              <a:t>AI Component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1170432"/>
            <a:ext cx="914400" cy="32004"/>
          </a:xfrm>
          <a:prstGeom prst="rect">
            <a:avLst/>
          </a:prstGeom>
          <a:solidFill>
            <a:srgbClr val="BE5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11480" y="1874519"/>
            <a:ext cx="1965960" cy="2057400"/>
          </a:xfrm>
          <a:prstGeom prst="roundRect">
            <a:avLst/>
          </a:prstGeom>
          <a:solidFill>
            <a:srgbClr val="FFFBF5"/>
          </a:solidFill>
          <a:ln>
            <a:solidFill>
              <a:srgbClr val="E5D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76072" y="2057400"/>
            <a:ext cx="475488" cy="365760"/>
          </a:xfrm>
          <a:prstGeom prst="roundRect">
            <a:avLst/>
          </a:prstGeom>
          <a:solidFill>
            <a:srgbClr val="BE5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2606040"/>
            <a:ext cx="1627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37271D"/>
                </a:solidFill>
                <a:latin typeface="Aptos"/>
              </a:defRPr>
            </a:pPr>
            <a:r>
              <a:t>MOVIE CONTENT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218688"/>
            <a:ext cx="1600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19" b="0">
                <a:solidFill>
                  <a:srgbClr val="775D48"/>
                </a:solidFill>
                <a:latin typeface="Aptos"/>
              </a:defRPr>
            </a:pPr>
            <a:r>
              <a:t>Genres + overview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04872" y="2724912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BE5623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15768" y="1874519"/>
            <a:ext cx="1965960" cy="2057400"/>
          </a:xfrm>
          <a:prstGeom prst="roundRect">
            <a:avLst/>
          </a:prstGeom>
          <a:solidFill>
            <a:srgbClr val="FFFBF5"/>
          </a:solidFill>
          <a:ln>
            <a:solidFill>
              <a:srgbClr val="BE5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880360" y="2057400"/>
            <a:ext cx="475488" cy="365760"/>
          </a:xfrm>
          <a:prstGeom prst="roundRect">
            <a:avLst/>
          </a:prstGeom>
          <a:solidFill>
            <a:srgbClr val="BE5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60" y="2606040"/>
            <a:ext cx="1627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37271D"/>
                </a:solidFill>
                <a:latin typeface="Aptos"/>
              </a:defRPr>
            </a:pPr>
            <a:r>
              <a:t>TF-IDF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98648" y="3218688"/>
            <a:ext cx="1600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19" b="0">
                <a:solidFill>
                  <a:srgbClr val="775D48"/>
                </a:solidFill>
                <a:latin typeface="Aptos"/>
              </a:defRPr>
            </a:pPr>
            <a:r>
              <a:t>Text → numeric vectors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60" y="2724912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BE5623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0056" y="1874519"/>
            <a:ext cx="1965960" cy="2057400"/>
          </a:xfrm>
          <a:prstGeom prst="roundRect">
            <a:avLst/>
          </a:prstGeom>
          <a:solidFill>
            <a:srgbClr val="FFFBF5"/>
          </a:solidFill>
          <a:ln>
            <a:solidFill>
              <a:srgbClr val="BE5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184648" y="2057400"/>
            <a:ext cx="475488" cy="365760"/>
          </a:xfrm>
          <a:prstGeom prst="roundRect">
            <a:avLst/>
          </a:prstGeom>
          <a:solidFill>
            <a:srgbClr val="BE5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84648" y="2606040"/>
            <a:ext cx="1627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37271D"/>
                </a:solidFill>
                <a:latin typeface="Aptos"/>
              </a:defRPr>
            </a:pPr>
            <a:r>
              <a:t>COSINE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02936" y="3218688"/>
            <a:ext cx="1600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19" b="0">
                <a:solidFill>
                  <a:srgbClr val="775D48"/>
                </a:solidFill>
                <a:latin typeface="Aptos"/>
              </a:defRPr>
            </a:pPr>
            <a:r>
              <a:t>Measures similarity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13448" y="2724912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BE5623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24344" y="1874519"/>
            <a:ext cx="1965960" cy="2057400"/>
          </a:xfrm>
          <a:prstGeom prst="roundRect">
            <a:avLst/>
          </a:prstGeom>
          <a:solidFill>
            <a:srgbClr val="FFFBF5"/>
          </a:solidFill>
          <a:ln>
            <a:solidFill>
              <a:srgbClr val="E5D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488936" y="2057400"/>
            <a:ext cx="475488" cy="365760"/>
          </a:xfrm>
          <a:prstGeom prst="roundRect">
            <a:avLst/>
          </a:prstGeom>
          <a:solidFill>
            <a:srgbClr val="BE5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88936" y="2606040"/>
            <a:ext cx="1627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37271D"/>
                </a:solidFill>
                <a:latin typeface="Aptos"/>
              </a:defRPr>
            </a:pPr>
            <a:r>
              <a:t>PERSONALIZE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07223" y="3218688"/>
            <a:ext cx="1600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19" b="0">
                <a:solidFill>
                  <a:srgbClr val="775D48"/>
                </a:solidFill>
                <a:latin typeface="Aptos"/>
              </a:defRPr>
            </a:pPr>
            <a:r>
              <a:t>Movie + history + favourites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17736" y="2724912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BE5623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628632" y="1874519"/>
            <a:ext cx="1965960" cy="2057400"/>
          </a:xfrm>
          <a:prstGeom prst="roundRect">
            <a:avLst/>
          </a:prstGeom>
          <a:solidFill>
            <a:srgbClr val="FFFBF5"/>
          </a:solidFill>
          <a:ln>
            <a:solidFill>
              <a:srgbClr val="E5D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793224" y="2057400"/>
            <a:ext cx="475488" cy="365760"/>
          </a:xfrm>
          <a:prstGeom prst="roundRect">
            <a:avLst/>
          </a:prstGeom>
          <a:solidFill>
            <a:srgbClr val="BE5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93224" y="2606040"/>
            <a:ext cx="1627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37271D"/>
                </a:solidFill>
                <a:latin typeface="Aptos"/>
              </a:defRPr>
            </a:pPr>
            <a:r>
              <a:t>TOP 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11511" y="3218688"/>
            <a:ext cx="1600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19" b="0">
                <a:solidFill>
                  <a:srgbClr val="775D48"/>
                </a:solidFill>
                <a:latin typeface="Aptos"/>
              </a:defRPr>
            </a:pPr>
            <a:r>
              <a:t>Highest-scoring movies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828800" y="4498848"/>
            <a:ext cx="8549640" cy="841248"/>
          </a:xfrm>
          <a:prstGeom prst="roundRect">
            <a:avLst/>
          </a:prstGeom>
          <a:solidFill>
            <a:srgbClr val="F4E5D3"/>
          </a:solidFill>
          <a:ln>
            <a:solidFill>
              <a:srgbClr val="EFC5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011680" y="4754880"/>
            <a:ext cx="818387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7271D"/>
                </a:solidFill>
                <a:latin typeface="Aptos"/>
              </a:defRPr>
            </a:pPr>
            <a:r>
              <a:t>More similar movie content  →  higher similarity  →  stronger recommendation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647395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775D48"/>
                </a:solidFill>
                <a:latin typeface="Aptos"/>
              </a:defRPr>
            </a:pPr>
            <a:r>
              <a:t>Cine-Men  •  Movie Recommendation System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6473952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775D48"/>
                </a:solidFill>
                <a:latin typeface="Aptos"/>
              </a:defRPr>
            </a:pPr>
            <a:r>
              <a:t>7/12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3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E5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503152" y="347472"/>
            <a:ext cx="100584" cy="100584"/>
          </a:xfrm>
          <a:prstGeom prst="ellipse">
            <a:avLst/>
          </a:prstGeom>
          <a:solidFill>
            <a:srgbClr val="E5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503152" y="758952"/>
            <a:ext cx="100584" cy="100584"/>
          </a:xfrm>
          <a:prstGeom prst="ellipse">
            <a:avLst/>
          </a:prstGeom>
          <a:solidFill>
            <a:srgbClr val="E5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503152" y="1170432"/>
            <a:ext cx="100584" cy="100584"/>
          </a:xfrm>
          <a:prstGeom prst="ellipse">
            <a:avLst/>
          </a:prstGeom>
          <a:solidFill>
            <a:srgbClr val="E5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03152" y="1581912"/>
            <a:ext cx="100584" cy="100584"/>
          </a:xfrm>
          <a:prstGeom prst="ellipse">
            <a:avLst/>
          </a:prstGeom>
          <a:solidFill>
            <a:srgbClr val="E5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503152" y="1993392"/>
            <a:ext cx="100584" cy="100584"/>
          </a:xfrm>
          <a:prstGeom prst="ellipse">
            <a:avLst/>
          </a:prstGeom>
          <a:solidFill>
            <a:srgbClr val="E5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03152" y="2404872"/>
            <a:ext cx="100584" cy="100584"/>
          </a:xfrm>
          <a:prstGeom prst="ellipse">
            <a:avLst/>
          </a:prstGeom>
          <a:solidFill>
            <a:srgbClr val="E5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34747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E5623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292608"/>
            <a:ext cx="8961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7271D"/>
                </a:solidFill>
                <a:latin typeface="Aptos"/>
              </a:defRPr>
            </a:pPr>
            <a:r>
              <a:t>Challenges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832104"/>
            <a:ext cx="9784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775D48"/>
                </a:solidFill>
                <a:latin typeface="Aptos"/>
              </a:defRPr>
            </a:pPr>
            <a:r>
              <a:t>1–2 challenges faced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97280" y="1170432"/>
            <a:ext cx="914400" cy="32004"/>
          </a:xfrm>
          <a:prstGeom prst="rect">
            <a:avLst/>
          </a:prstGeom>
          <a:solidFill>
            <a:srgbClr val="BE5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22960" y="1572768"/>
            <a:ext cx="10469880" cy="3063240"/>
          </a:xfrm>
          <a:prstGeom prst="roundRect">
            <a:avLst/>
          </a:prstGeom>
          <a:solidFill>
            <a:srgbClr val="FFFBF5"/>
          </a:solidFill>
          <a:ln>
            <a:solidFill>
              <a:srgbClr val="E5D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1737360"/>
            <a:ext cx="1005840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650">
                <a:solidFill>
                  <a:srgbClr val="37271D"/>
                </a:solidFill>
                <a:latin typeface="Aptos"/>
              </a:defRPr>
            </a:pPr>
            <a:r>
              <a:t>•  Personalized scoring: combining the selected movie, watch history and favourites while keeping content similarity meaningful.</a:t>
            </a:r>
          </a:p>
          <a:p>
            <a:pPr>
              <a:spcAft>
                <a:spcPts val="1100"/>
              </a:spcAft>
              <a:defRPr sz="1650">
                <a:solidFill>
                  <a:srgbClr val="37271D"/>
                </a:solidFill>
                <a:latin typeface="Aptos"/>
              </a:defRPr>
            </a:pPr>
            <a:r>
              <a:t>•  Returning-user persistence: connecting SQLite data with the recommendation flow so previous activity can be reused.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5010912"/>
            <a:ext cx="1783080" cy="365760"/>
          </a:xfrm>
          <a:prstGeom prst="roundRect">
            <a:avLst/>
          </a:prstGeom>
          <a:solidFill>
            <a:srgbClr val="BE5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KEY LEARNING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88920" y="4983480"/>
            <a:ext cx="8138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7271D"/>
                </a:solidFill>
                <a:latin typeface="Aptos"/>
              </a:defRPr>
            </a:pPr>
            <a:r>
              <a:t>The recommendation engine and database had to work together as one flow.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7395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775D48"/>
                </a:solidFill>
                <a:latin typeface="Aptos"/>
              </a:defRPr>
            </a:pPr>
            <a:r>
              <a:t>Cine-Men  •  Movie Recommendation System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73952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775D48"/>
                </a:solidFill>
                <a:latin typeface="Aptos"/>
              </a:defRPr>
            </a:pPr>
            <a:r>
              <a:t>8/12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3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E5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E5623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292608"/>
            <a:ext cx="8961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7271D"/>
                </a:solidFill>
                <a:latin typeface="Aptos"/>
              </a:defRPr>
            </a:pPr>
            <a:r>
              <a:t>My Role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832104"/>
            <a:ext cx="9784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775D48"/>
                </a:solidFill>
                <a:latin typeface="Aptos"/>
              </a:defRPr>
            </a:pPr>
            <a:r>
              <a:t>What I worked on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1170432"/>
            <a:ext cx="914400" cy="32004"/>
          </a:xfrm>
          <a:prstGeom prst="rect">
            <a:avLst/>
          </a:prstGeom>
          <a:solidFill>
            <a:srgbClr val="BE5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1353312"/>
            <a:ext cx="3566160" cy="365760"/>
          </a:xfrm>
          <a:prstGeom prst="roundRect">
            <a:avLst/>
          </a:prstGeom>
          <a:solidFill>
            <a:srgbClr val="BE5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RECOMMENDATION • BACKEND • INTEGRATION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874519"/>
            <a:ext cx="10561320" cy="3950208"/>
          </a:xfrm>
          <a:prstGeom prst="roundRect">
            <a:avLst/>
          </a:prstGeom>
          <a:solidFill>
            <a:srgbClr val="FFFBF5"/>
          </a:solidFill>
          <a:ln>
            <a:solidFill>
              <a:srgbClr val="E5D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2039112"/>
            <a:ext cx="10149840" cy="3675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430">
                <a:solidFill>
                  <a:srgbClr val="37271D"/>
                </a:solidFill>
                <a:latin typeface="Aptos"/>
              </a:defRPr>
            </a:pPr>
            <a:r>
              <a:t>•  Movie data loading and preprocessing</a:t>
            </a:r>
          </a:p>
          <a:p>
            <a:pPr>
              <a:spcAft>
                <a:spcPts val="1100"/>
              </a:spcAft>
              <a:defRPr sz="1430">
                <a:solidFill>
                  <a:srgbClr val="37271D"/>
                </a:solidFill>
                <a:latin typeface="Aptos"/>
              </a:defRPr>
            </a:pPr>
            <a:r>
              <a:t>•  TF-IDF and cosine-similarity recommendation logic</a:t>
            </a:r>
          </a:p>
          <a:p>
            <a:pPr>
              <a:spcAft>
                <a:spcPts val="1100"/>
              </a:spcAft>
              <a:defRPr sz="1430">
                <a:solidFill>
                  <a:srgbClr val="37271D"/>
                </a:solidFill>
                <a:latin typeface="Aptos"/>
              </a:defRPr>
            </a:pPr>
            <a:r>
              <a:t>•  Personalized scoring using movie + history + favourites</a:t>
            </a:r>
          </a:p>
          <a:p>
            <a:pPr>
              <a:spcAft>
                <a:spcPts val="1100"/>
              </a:spcAft>
              <a:defRPr sz="1430">
                <a:solidFill>
                  <a:srgbClr val="37271D"/>
                </a:solidFill>
                <a:latin typeface="Aptos"/>
              </a:defRPr>
            </a:pPr>
            <a:r>
              <a:t>•  SQLite users, history and favourites</a:t>
            </a:r>
          </a:p>
          <a:p>
            <a:pPr>
              <a:spcAft>
                <a:spcPts val="1100"/>
              </a:spcAft>
              <a:defRPr sz="1430">
                <a:solidFill>
                  <a:srgbClr val="37271D"/>
                </a:solidFill>
                <a:latin typeface="Aptos"/>
              </a:defRPr>
            </a:pPr>
            <a:r>
              <a:t>•  Returning-user flow and OMDb API integration</a:t>
            </a:r>
          </a:p>
          <a:p>
            <a:pPr>
              <a:spcAft>
                <a:spcPts val="1100"/>
              </a:spcAft>
              <a:defRPr sz="1430">
                <a:solidFill>
                  <a:srgbClr val="37271D"/>
                </a:solidFill>
                <a:latin typeface="Aptos"/>
              </a:defRPr>
            </a:pPr>
            <a:r>
              <a:t>•  Module integration, testing and debugging</a:t>
            </a:r>
          </a:p>
          <a:p>
            <a:pPr>
              <a:spcAft>
                <a:spcPts val="1100"/>
              </a:spcAft>
              <a:defRPr sz="1430">
                <a:solidFill>
                  <a:srgbClr val="37271D"/>
                </a:solidFill>
                <a:latin typeface="Aptos"/>
              </a:defRPr>
            </a:pPr>
            <a:r>
              <a:t>•  GitHub project integration and version control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47395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775D48"/>
                </a:solidFill>
                <a:latin typeface="Aptos"/>
              </a:defRPr>
            </a:pPr>
            <a:r>
              <a:t>Cine-Men  •  Movie Recommendation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73952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775D48"/>
                </a:solidFill>
                <a:latin typeface="Aptos"/>
              </a:defRPr>
            </a:pPr>
            <a:r>
              <a:t>9/12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3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E5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503152" y="347472"/>
            <a:ext cx="100584" cy="100584"/>
          </a:xfrm>
          <a:prstGeom prst="ellipse">
            <a:avLst/>
          </a:prstGeom>
          <a:solidFill>
            <a:srgbClr val="E5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503152" y="758952"/>
            <a:ext cx="100584" cy="100584"/>
          </a:xfrm>
          <a:prstGeom prst="ellipse">
            <a:avLst/>
          </a:prstGeom>
          <a:solidFill>
            <a:srgbClr val="E5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503152" y="1170432"/>
            <a:ext cx="100584" cy="100584"/>
          </a:xfrm>
          <a:prstGeom prst="ellipse">
            <a:avLst/>
          </a:prstGeom>
          <a:solidFill>
            <a:srgbClr val="E5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03152" y="1581912"/>
            <a:ext cx="100584" cy="100584"/>
          </a:xfrm>
          <a:prstGeom prst="ellipse">
            <a:avLst/>
          </a:prstGeom>
          <a:solidFill>
            <a:srgbClr val="E5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503152" y="1993392"/>
            <a:ext cx="100584" cy="100584"/>
          </a:xfrm>
          <a:prstGeom prst="ellipse">
            <a:avLst/>
          </a:prstGeom>
          <a:solidFill>
            <a:srgbClr val="E5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03152" y="2404872"/>
            <a:ext cx="100584" cy="100584"/>
          </a:xfrm>
          <a:prstGeom prst="ellipse">
            <a:avLst/>
          </a:prstGeom>
          <a:solidFill>
            <a:srgbClr val="E5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34747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E5623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292608"/>
            <a:ext cx="8961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7271D"/>
                </a:solidFill>
                <a:latin typeface="Aptos"/>
              </a:defRPr>
            </a:pPr>
            <a:r>
              <a:t>Future Improvements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832104"/>
            <a:ext cx="9784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775D48"/>
                </a:solidFill>
                <a:latin typeface="Aptos"/>
              </a:defRPr>
            </a:pPr>
            <a:r>
              <a:t>Possible next steps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97280" y="1170432"/>
            <a:ext cx="914400" cy="32004"/>
          </a:xfrm>
          <a:prstGeom prst="rect">
            <a:avLst/>
          </a:prstGeom>
          <a:solidFill>
            <a:srgbClr val="BE5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49808" y="1508760"/>
            <a:ext cx="5047488" cy="1572768"/>
          </a:xfrm>
          <a:prstGeom prst="roundRect">
            <a:avLst/>
          </a:prstGeom>
          <a:solidFill>
            <a:srgbClr val="FFFBF5"/>
          </a:solidFill>
          <a:ln>
            <a:solidFill>
              <a:srgbClr val="E5D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7" y="1764792"/>
            <a:ext cx="4526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BE5623"/>
                </a:solidFill>
                <a:latin typeface="Aptos"/>
              </a:defRPr>
            </a:pPr>
            <a:r>
              <a:t>HYBRID RECOMMENDATIONS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8407" y="2313432"/>
            <a:ext cx="4526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775D48"/>
                </a:solidFill>
                <a:latin typeface="Aptos"/>
              </a:defRPr>
            </a:pPr>
            <a:r>
              <a:t>Combine content-based + collaborative filtering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1508760"/>
            <a:ext cx="5047488" cy="1572768"/>
          </a:xfrm>
          <a:prstGeom prst="roundRect">
            <a:avLst/>
          </a:prstGeom>
          <a:solidFill>
            <a:srgbClr val="FFFBF5"/>
          </a:solidFill>
          <a:ln>
            <a:solidFill>
              <a:srgbClr val="E5D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1764792"/>
            <a:ext cx="4526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BE5623"/>
                </a:solidFill>
                <a:latin typeface="Aptos"/>
              </a:defRPr>
            </a:pPr>
            <a:r>
              <a:t>BETTER REPRESENTATIONS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2313432"/>
            <a:ext cx="4526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775D48"/>
                </a:solidFill>
                <a:latin typeface="Aptos"/>
              </a:defRPr>
            </a:pPr>
            <a:r>
              <a:t>Use embeddings for semantic similarity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3593591"/>
            <a:ext cx="5047488" cy="1572768"/>
          </a:xfrm>
          <a:prstGeom prst="roundRect">
            <a:avLst/>
          </a:prstGeom>
          <a:solidFill>
            <a:srgbClr val="FFFBF5"/>
          </a:solidFill>
          <a:ln>
            <a:solidFill>
              <a:srgbClr val="E5D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7" y="3849624"/>
            <a:ext cx="4526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BE5623"/>
                </a:solidFill>
                <a:latin typeface="Aptos"/>
              </a:defRPr>
            </a:pPr>
            <a:r>
              <a:t>USER FEEDBACK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7" y="4398264"/>
            <a:ext cx="4526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775D48"/>
                </a:solidFill>
                <a:latin typeface="Aptos"/>
              </a:defRPr>
            </a:pPr>
            <a:r>
              <a:t>Use ratings / likes to refine results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3593591"/>
            <a:ext cx="5047488" cy="1572768"/>
          </a:xfrm>
          <a:prstGeom prst="roundRect">
            <a:avLst/>
          </a:prstGeom>
          <a:solidFill>
            <a:srgbClr val="FFFBF5"/>
          </a:solidFill>
          <a:ln>
            <a:solidFill>
              <a:srgbClr val="E5D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3849624"/>
            <a:ext cx="4526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BE5623"/>
                </a:solidFill>
                <a:latin typeface="Aptos"/>
              </a:defRPr>
            </a:pPr>
            <a:r>
              <a:t>EVALUATION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4398264"/>
            <a:ext cx="4526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775D48"/>
                </a:solidFill>
                <a:latin typeface="Aptos"/>
              </a:defRPr>
            </a:pPr>
            <a:r>
              <a:t>Add precision, recall and recommender metrics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47395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775D48"/>
                </a:solidFill>
                <a:latin typeface="Aptos"/>
              </a:defRPr>
            </a:pPr>
            <a:r>
              <a:t>Cine-Men  •  Movie Recommendation System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473952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775D48"/>
                </a:solidFill>
                <a:latin typeface="Aptos"/>
              </a:defRPr>
            </a:pPr>
            <a:r>
              <a:t>10/12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3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E5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E5623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292608"/>
            <a:ext cx="8961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7271D"/>
                </a:solidFill>
                <a:latin typeface="Aptos"/>
              </a:defRPr>
            </a:pPr>
            <a:r>
              <a:t>GitHub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832104"/>
            <a:ext cx="9784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775D48"/>
                </a:solidFill>
                <a:latin typeface="Aptos"/>
              </a:defRPr>
            </a:pPr>
            <a:r>
              <a:t>Project repository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1170432"/>
            <a:ext cx="914400" cy="32004"/>
          </a:xfrm>
          <a:prstGeom prst="rect">
            <a:avLst/>
          </a:prstGeom>
          <a:solidFill>
            <a:srgbClr val="BE5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20" y="1783080"/>
            <a:ext cx="10241280" cy="2240280"/>
          </a:xfrm>
          <a:prstGeom prst="roundRect">
            <a:avLst/>
          </a:prstGeom>
          <a:solidFill>
            <a:srgbClr val="FFFBF5"/>
          </a:solidFill>
          <a:ln>
            <a:solidFill>
              <a:srgbClr val="BE5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434840" y="2148840"/>
            <a:ext cx="3337560" cy="365760"/>
          </a:xfrm>
          <a:prstGeom prst="roundRect">
            <a:avLst/>
          </a:prstGeom>
          <a:solidFill>
            <a:srgbClr val="BE5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GITHUB REPOSITORY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2788920"/>
            <a:ext cx="95097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37271D"/>
                </a:solidFill>
                <a:latin typeface="Aptos"/>
              </a:defRPr>
            </a:pPr>
            <a:r>
              <a:t>github.com/mankaran8054/</a:t>
            </a:r>
            <a:br/>
            <a:r>
              <a:t>Movie-recommendation-system-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4434840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>
                <a:solidFill>
                  <a:srgbClr val="775D48"/>
                </a:solidFill>
                <a:latin typeface="Aptos"/>
              </a:defRPr>
            </a:pPr>
            <a:r>
              <a:t>Application code  •  recommender  •  database  •  API integration  •  styling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47395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775D48"/>
                </a:solidFill>
                <a:latin typeface="Aptos"/>
              </a:defRPr>
            </a:pPr>
            <a:r>
              <a:t>Cine-Men  •  Movie Recommendation System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73952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775D48"/>
                </a:solidFill>
                <a:latin typeface="Aptos"/>
              </a:defRPr>
            </a:pPr>
            <a:r>
              <a:t>11/12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3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E5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503152" y="347472"/>
            <a:ext cx="100584" cy="100584"/>
          </a:xfrm>
          <a:prstGeom prst="ellipse">
            <a:avLst/>
          </a:prstGeom>
          <a:solidFill>
            <a:srgbClr val="E5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503152" y="758952"/>
            <a:ext cx="100584" cy="100584"/>
          </a:xfrm>
          <a:prstGeom prst="ellipse">
            <a:avLst/>
          </a:prstGeom>
          <a:solidFill>
            <a:srgbClr val="E5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503152" y="1170432"/>
            <a:ext cx="100584" cy="100584"/>
          </a:xfrm>
          <a:prstGeom prst="ellipse">
            <a:avLst/>
          </a:prstGeom>
          <a:solidFill>
            <a:srgbClr val="E5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03152" y="1581912"/>
            <a:ext cx="100584" cy="100584"/>
          </a:xfrm>
          <a:prstGeom prst="ellipse">
            <a:avLst/>
          </a:prstGeom>
          <a:solidFill>
            <a:srgbClr val="E5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503152" y="1993392"/>
            <a:ext cx="100584" cy="100584"/>
          </a:xfrm>
          <a:prstGeom prst="ellipse">
            <a:avLst/>
          </a:prstGeom>
          <a:solidFill>
            <a:srgbClr val="E5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03152" y="2404872"/>
            <a:ext cx="100584" cy="100584"/>
          </a:xfrm>
          <a:prstGeom prst="ellipse">
            <a:avLst/>
          </a:prstGeom>
          <a:solidFill>
            <a:srgbClr val="E5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292608"/>
            <a:ext cx="8961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37271D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487168"/>
            <a:ext cx="10698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BE5623"/>
                </a:solidFill>
                <a:latin typeface="Aptos"/>
              </a:defRPr>
            </a:pPr>
            <a:r>
              <a:t>Movie Recommendation System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00600" y="3246120"/>
            <a:ext cx="2148840" cy="365760"/>
          </a:xfrm>
          <a:prstGeom prst="roundRect">
            <a:avLst/>
          </a:prstGeom>
          <a:solidFill>
            <a:srgbClr val="BE5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CINE-MEN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57200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75D48"/>
                </a:solidFill>
                <a:latin typeface="Aptos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594360" y="647395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775D48"/>
                </a:solidFill>
                <a:latin typeface="Aptos"/>
              </a:defRPr>
            </a:pPr>
            <a:r>
              <a:t>Cine-Men  •  Movie Recommendation System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73952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775D48"/>
                </a:solidFill>
                <a:latin typeface="Aptos"/>
              </a:defRPr>
            </a:pPr>
            <a:r>
              <a:t>12/12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18520" y="6419088"/>
            <a:ext cx="502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5C4E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